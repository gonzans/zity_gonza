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68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Portada. Presentar Zity como la solución integral de gestión residencial construida en 16 semanas con Scrum. Mencionar el equipo y que el producto está en Release Candidate. La idea: pasar de la comunicación dispersa a un sistema único y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Agenda. Recorreremos contexto, la solución, la gestión ágil con Scrum, la arquitectura, el detalle de cada sprint, la calidad de ingeniería y los resultados con demo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problema. Hoy un edificio se gestiona con canales informales y sin registro. Esto causa pérdida de información, falta de trazabilidad, errores de cobro y cero visibilidad para decidir. Zity ataca exactamente estos cuatro puntos.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solución. Zity centraliza todo en un canal digital. Cuatro roles bien delimitados y seis módulos funcionales, sobre una base segura con RLS, Realtime, auditoría y CI/CD. 👉 Se puede abrir la app aquí para dar un primer vistazo.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Scrum. Equipo de 5 personas con roles claros. Sprints semanales que siempre cierran con algo visible. Velocidad estable de 13.2 h por sprint. Clave del roadmap: el enfoque funcional, donde la calidad viaja como chore en cada sprint en lugar de ocupar sprints completos.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Roadmap. La Semana 1 fue introducción; el trabajo arrancó en S0. Cada sprint entrega un módulo demostrable. Los dos sprints marcados con estrella (S7 Métricas y S14 Dashboard ejecutivo) son los grandes hitos visuales. La DoD escala de v1 a v3 a lo largo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Definition of Done. Tres niveles que suben la vara: v1 baseline (CI, PR, demo), v2 calidad (cobertura, integración, health, E2E), v3 release candidate (OWASP, no-PII, Lighthouse, tag). El equipo nunca puede bajar de versión.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Stack. Frontend moderno con React 19 + Vite + Tailwind y TypeScript de punta a punta. Supabase como backend integral (Postgres, Auth, Realtime, Storage y Edge Functions). Recharts para gráficas y pdf-lib para comprobantes. Calidad y despliegue con GitHub Actions, Vercel, Vitest y Playwright.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Arquitectura. Un frontend SPA en React se comunica por HTTPS y WebSocket con Supabase, que concentra base de datos con RLS, autenticación, tiempo real, almacenamiento y funciones de borde. Todo pasa por un pipeline de CI/CD que valida y despliega automáticamente. No hay servidor propio que mantener.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Modelo de datos. Seis dominios de entidades sobre Postgres. La seguridad no es un añadido: cada tabla aplica Row Level Security según el rol, las operaciones privilegiadas pasan por Edge Functions con service_role y la auditoría es inmutable. Así un residente nunca ve datos de otro, aunque manipule la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Sprint 0 (Semana 2). Sienta las bases técnicas: sin esto, ningún módulo funcional es demostrable. Aquí se define el stack y la disciplina de calidad que acompaña todo 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punto de entrada del sistema. Mostrar el login real, la separación por rol y la recuperación de contraseña. 👉 Cambiar a la app en vivo para iniciar sesión con un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administrador controla quién entra. Mostrar la lista de usuarios, la invitación y el bloqueo con cierre de sesión. 👉 Opcional: demostrar el bloqueo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Arranca el módulo estrella. Mostrar cómo un residente reporta con foto y cómo el admin lo ve centralizado. 👉 Demostrar creación de solicitud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cierra el ciclo de mantenimiento de punta a punta. Resaltar el flujo de estados y la confirmación del residente como control de calidad del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trazabilidad da confianza. Mostrar el registro de auditoría y el historial de una solicitud. Útil para resolver disputas.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comunicación deja de ser manual. Abrir dos navegadores para mostrar una notificación que aparece sola. 👉 Demostrar Realtime en vivo con dos sesiones.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Primer entregable con ★. La administración ve el edificio de un vistazo. Resaltar la mediana frente al promedio (resistente a outliers) y la exportación a CSV. 👉 Mostrar el dashboard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Arranca el dinero del edificio. Mostrar la emisión en lote y cómo el residente recibe la factura con notificación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cierra el ciclo de cobro. Usar el seed de tiempo para mostrar vencidas y recordatorios automáticos. Mostrar la descarga del comprobante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tienda interna del edificio. Mostrar la gestión de productos y el catálogo navegable del residente. Resaltar la baja lógica (no se borra, se reactiva).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cierra el ciclo de la tienda y se integra con facturación. Resaltar el descuento de stock atómico (test de concurrencia: solo uno gana la última unidad).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Canal oficial de comunicación. Publicar un anuncio como admin y verlo aparecer solo en el residente. 👉 Demostrar el Realtime y la sanitización del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lo del residente en una pantalla. Mostrar las 3 tarjetas con datos reales y la gestión de sesiones activas.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★ broche final. La dueña del edificio ve mantenimiento, finanzas y tienda consolidados. Es la prueba de que todos los módulos se integran. 👉 Mostrar el dashboard ejecutivo en vivo como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Calidad. La parte de ingeniería que no se ve pero sostiene todo: pruebas unitarias y E2E, integración continua con despliegue automático, seguridad con RLS y OWASP, y privacidad con no-PII. Todo se cumplió como chores intercalados, sin frenar la entrega funcional.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Resultados. 15 sprints, 6 módulos, 4 roles con seguridad por fila, y un release candidate con despliegue continuo. La calidad está verificada con métricas concretas. El mensaje de cierre: convertimos el caos en un sistema trazable e integrado.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y futuro. Aquí se hace el recorrido en vivo por la app, cerrando con el dashboard ejecutivo. Twilio 2FA y Web Push quedaron fuera del alcance del curso por no ser visuales, pero están identificados como mejoras. 👉 Momento principal de demostración del sistema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Cierre. Agradecer y abrir preguntas. Reforzar que Zity es un producto completo, construido con disciplina ágil y listo como release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zity_logo_sin_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89642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658368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Zity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2412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Sistema de Gestión Integral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E4B54A"/>
                </a:solidFill>
                <a:latin typeface="Georgia"/>
              </a:rPr>
              <a:t>para Conjuntos Residenciales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114800"/>
            <a:ext cx="1371600" cy="5486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D5E5EB"/>
                </a:solidFill>
                <a:latin typeface="Segoe UI"/>
              </a:rPr>
              <a:t>Mantenimiento, facturación, tienda interna y comunicación del edificio — en una sola plataforma web, en tiempo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91440" y="5623560"/>
            <a:ext cx="12435840" cy="1325880"/>
          </a:xfrm>
          <a:prstGeom prst="rect">
            <a:avLst/>
          </a:prstGeom>
          <a:solidFill>
            <a:srgbClr val="11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23560"/>
            <a:ext cx="12191695" cy="36576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779008"/>
            <a:ext cx="7132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Ingeniería de Software  ·  Metodología Scrum  ·  16 semanas (Sprints 0–14)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D5E5EB"/>
                </a:solidFill>
                <a:latin typeface="Segoe UI"/>
              </a:rPr>
              <a:t>PO  Jaqueline Álvarez Rocca     ·     SM  Carlos Meza Peláez</a:t>
            </a:r>
          </a:p>
          <a:p>
            <a:pPr algn="l"/>
            <a:r>
              <a:rPr sz="1050" b="0" i="0">
                <a:solidFill>
                  <a:srgbClr val="D5E5EB"/>
                </a:solidFill>
                <a:latin typeface="Segoe UI"/>
              </a:rPr>
              <a:t>Developers  Leonardo Cortez  ·  Yoel Gonza  ·  Steven Santiago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589788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100"/>
              </a:spcAft>
            </a:pPr>
            <a:r>
              <a:rPr sz="1000" b="0" i="0">
                <a:solidFill>
                  <a:srgbClr val="81B1C3"/>
                </a:solidFill>
                <a:latin typeface="Segoe UI"/>
              </a:rPr>
              <a:t>Release</a:t>
            </a:r>
          </a:p>
          <a:p>
            <a:pPr algn="r">
              <a:spcAft>
                <a:spcPts val="100"/>
              </a:spcAft>
            </a:pPr>
            <a:r>
              <a:rPr sz="1800" b="1" i="0">
                <a:solidFill>
                  <a:srgbClr val="E4B54A"/>
                </a:solidFill>
                <a:latin typeface="Georgia"/>
              </a:rPr>
              <a:t>v1.0.0-rc</a:t>
            </a:r>
          </a:p>
          <a:p>
            <a:pPr algn="r"/>
            <a:r>
              <a:rPr sz="1050" b="0" i="0">
                <a:solidFill>
                  <a:srgbClr val="D5E5EB"/>
                </a:solidFill>
                <a:latin typeface="Segoe U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Agenda de la presentación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Introducción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89888" y="1874519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1874519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20208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Contexto y problema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7" y="237743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¿Por qué un edificio necesita Zity?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53511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66928" y="2953511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89888" y="2953511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2953511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7" y="3099815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La solución: Zity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7" y="3456431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Roles, módulos y propuesta de valor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32504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66928" y="4032504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389888" y="4032504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03250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7" y="41788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Gestión ágil (Scrum)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7" y="45354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Equipo, roadmap y Definition of 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111496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66928" y="5111496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389888" y="5111496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5111496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7" y="52578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Arquitectura y tecnología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4207" y="56144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Stack, diseño del sistema y datos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1874519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27648" y="1874519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150608" y="1874519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7648" y="1874519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24927" y="20208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Recorrido por sprints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4927" y="2377439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Lo más importante de S0 a S14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2953511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327648" y="2953511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150608" y="2953511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2953511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4927" y="3099815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Calidad e ingeniería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3456431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Testing, CI/CD, seguridad y privacidad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7648" y="4032504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27648" y="4032504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150608" y="4032504"/>
            <a:ext cx="109728" cy="9144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27648" y="4032504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E4B54A"/>
                </a:solidFill>
                <a:latin typeface="Georgia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4927" y="41788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1242F"/>
                </a:solidFill>
                <a:latin typeface="Segoe UI Semibold"/>
              </a:rPr>
              <a:t>Resultados y conclusiones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4927" y="45354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Números, demo en vivo y cierre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El problema: una gestión fragmentada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Introducción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2024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048256"/>
            <a:ext cx="64008" cy="1481328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057400"/>
            <a:ext cx="50109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242F"/>
                </a:solidFill>
                <a:latin typeface="Segoe UI Semibold"/>
              </a:rPr>
              <a:t>Comunicación dispersa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359152"/>
            <a:ext cx="497433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 i="0">
                <a:solidFill>
                  <a:srgbClr val="5E6B72"/>
                </a:solidFill>
                <a:latin typeface="Segoe UI"/>
              </a:rPr>
              <a:t>WhatsApp, llamadas y notas en papel. La información se pierde y nadie tiene la versión única.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92024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2048256"/>
            <a:ext cx="64008" cy="1481328"/>
          </a:xfrm>
          <a:prstGeom prst="rect">
            <a:avLst/>
          </a:prstGeom>
          <a:solidFill>
            <a:srgbClr val="B08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2057400"/>
            <a:ext cx="50109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242F"/>
                </a:solidFill>
                <a:latin typeface="Segoe UI Semibold"/>
              </a:rPr>
              <a:t>Sin trazabilidad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359152"/>
            <a:ext cx="497433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 i="0">
                <a:solidFill>
                  <a:srgbClr val="5E6B72"/>
                </a:solidFill>
                <a:latin typeface="Segoe UI"/>
              </a:rPr>
              <a:t>Los reclamos no dejan rastro: no se sabe quién atendió, cuándo ni en qué estado quedó.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8620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014215"/>
            <a:ext cx="64008" cy="1481328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23360"/>
            <a:ext cx="50109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242F"/>
                </a:solidFill>
                <a:latin typeface="Segoe UI Semibold"/>
              </a:rPr>
              <a:t>Cobros manuales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325112"/>
            <a:ext cx="497433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 i="0">
                <a:solidFill>
                  <a:srgbClr val="5E6B72"/>
                </a:solidFill>
                <a:latin typeface="Segoe UI"/>
              </a:rPr>
              <a:t>Facturas y pagos llevados a mano, con errores, duplicados y recordatorios olvidados.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3886200"/>
            <a:ext cx="539496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81928" y="4014215"/>
            <a:ext cx="64008" cy="1481328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9672" y="4023360"/>
            <a:ext cx="50109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1242F"/>
                </a:solidFill>
                <a:latin typeface="Segoe UI Semibold"/>
              </a:rPr>
              <a:t>Poca visibilidad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325112"/>
            <a:ext cx="4974336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 i="0">
                <a:solidFill>
                  <a:srgbClr val="5E6B72"/>
                </a:solidFill>
                <a:latin typeface="Segoe UI"/>
              </a:rPr>
              <a:t>La administración y el dueño no tienen métricas para decidir ni rendir cuentas.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Resultado: </a:t>
            </a:r>
            <a:r>
              <a:rPr sz="1300" b="0" i="0">
                <a:solidFill>
                  <a:srgbClr val="5E6B72"/>
                </a:solidFill>
                <a:latin typeface="Segoe UI"/>
              </a:rPr>
              <a:t>tiempo perdido, conflictos sin resolver y una comunidad que no confía en su administración.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Zity: un único canal digital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Introducción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373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A1A2E"/>
                </a:solidFill>
                <a:latin typeface="Segoe UI"/>
              </a:rPr>
              <a:t>Una plataforma web que conecta a residentes, administración y técnicos con trazabilidad completa y tiempo real. Cuatro roles, seis módulos.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95728"/>
            <a:ext cx="267004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39572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6151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1242F"/>
                </a:solidFill>
                <a:latin typeface="Segoe UI Semibold"/>
              </a:rPr>
              <a:t>Administrador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9992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E6B72"/>
                </a:solidFill>
                <a:latin typeface="Segoe UI"/>
              </a:rPr>
              <a:t>Gestiona el edificio: usuarios, solicitudes, facturas, tienda y anuncios.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2395728"/>
            <a:ext cx="267004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19856" y="239572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26151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1242F"/>
                </a:solidFill>
                <a:latin typeface="Segoe UI Semibold"/>
              </a:rPr>
              <a:t>Residente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9992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E6B72"/>
                </a:solidFill>
                <a:latin typeface="Segoe UI"/>
              </a:rPr>
              <a:t>Reporta, paga, compra y se comunica desde su panel integral.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4" y="2395728"/>
            <a:ext cx="267004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72784" y="239572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6151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1242F"/>
                </a:solidFill>
                <a:latin typeface="Segoe UI Semibold"/>
              </a:rPr>
              <a:t>Técnico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992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E6B72"/>
                </a:solidFill>
                <a:latin typeface="Segoe UI"/>
              </a:rPr>
              <a:t>Atiende solicitudes asignadas y las cierra con evidencia.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1" y="2395728"/>
            <a:ext cx="267004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25711" y="2395728"/>
            <a:ext cx="2670048" cy="109728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26151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1242F"/>
                </a:solidFill>
                <a:latin typeface="Segoe UI Semibold"/>
              </a:rPr>
              <a:t>Observador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9992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5E6B72"/>
                </a:solidFill>
                <a:latin typeface="Segoe UI"/>
              </a:rPr>
              <a:t>El dueño: dashboard ejecutivo de solo lectura.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08A36"/>
                </a:solidFill>
                <a:latin typeface="Segoe UI Semibold"/>
              </a:rPr>
              <a:t>SEIS MÓDULOS FUNCIONALES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8920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" y="4892040"/>
            <a:ext cx="15544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Mantenimiento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489204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86000" y="4892040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Facturación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4892040"/>
            <a:ext cx="164592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22191" y="4892040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Tienda interna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32704" y="489204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32704" y="4892040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Comunicación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0336" y="489204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60336" y="489204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Usuarios y acceso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45168" y="48920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345168" y="4892040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Métricas y reportes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62356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11242F"/>
                </a:solidFill>
                <a:latin typeface="Segoe UI Semibold"/>
              </a:rPr>
              <a:t>Todo sobre una base segura: </a:t>
            </a:r>
            <a:r>
              <a:rPr sz="1250" b="0" i="0">
                <a:solidFill>
                  <a:srgbClr val="5E6B72"/>
                </a:solidFill>
                <a:latin typeface="Segoe UI"/>
              </a:rPr>
              <a:t>Postgres con Row Level Security por rol, notificaciones Realtime, auditoría inmutable y despliegue continuo.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14030" y="-82534"/>
            <a:ext cx="4572001" cy="3200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800" b="1" i="0" dirty="0">
                <a:solidFill>
                  <a:srgbClr val="1B3A4B"/>
                </a:solidFill>
                <a:latin typeface="Georgia"/>
              </a:rPr>
              <a:t>01</a:t>
            </a:r>
            <a:endParaRPr sz="25000" b="1" i="0" dirty="0">
              <a:solidFill>
                <a:srgbClr val="1B3A4B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73736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B54A"/>
                </a:solidFill>
                <a:latin typeface="Segoe UI Semibold"/>
              </a:rPr>
              <a:t>GESTIÓN ÁGIL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749807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Metodología Scrum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D5E5EB"/>
                </a:solidFill>
                <a:latin typeface="Segoe UI"/>
              </a:rPr>
              <a:t>Cómo se planificó y construyó Zity: equipo, roadmap de 16 semanas y una Definition of Done que sube de exigencia.</a:t>
            </a:r>
          </a:p>
        </p:txBody>
      </p:sp>
      <p:pic>
        <p:nvPicPr>
          <p:cNvPr id="9" name="Picture 8" descr="zity_logo_si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27494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48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Zity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E4B54A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D9D3C5"/>
                </a:solidFill>
                <a:latin typeface="Segoe UI"/>
              </a:rPr>
              <a:t>   ·   Gestión ágil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D9D3C5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MARCO DE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Scrum: equipo, ritmo y ceremonias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Gestión ágil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08A36"/>
                </a:solidFill>
                <a:latin typeface="Segoe UI Semibold"/>
              </a:rPr>
              <a:t>EQUIPO Y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267712"/>
            <a:ext cx="64008" cy="6035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26771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62F3D"/>
                </a:solidFill>
                <a:latin typeface="Segoe UI Semibold"/>
              </a:rPr>
              <a:t>Product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E6B72"/>
                </a:solidFill>
                <a:latin typeface="Segoe UI"/>
              </a:rPr>
              <a:t>Jaqueline Álvarez Rocca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3227832"/>
            <a:ext cx="64008" cy="6035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22783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62F3D"/>
                </a:solidFill>
                <a:latin typeface="Segoe UI Semibold"/>
              </a:rPr>
              <a:t>Scrum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E6B72"/>
                </a:solidFill>
                <a:latin typeface="Segoe UI"/>
              </a:rPr>
              <a:t>Carlos Meza Peláez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69080"/>
            <a:ext cx="544068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4187952"/>
            <a:ext cx="64008" cy="6035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62F3D"/>
                </a:solidFill>
                <a:latin typeface="Segoe UI Semibold"/>
              </a:rPr>
              <a:t>Developers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E6B72"/>
                </a:solidFill>
                <a:latin typeface="Segoe UI"/>
              </a:rPr>
              <a:t>Leonardo Cortez  ·  Yoel Gonza  ·  Steven Santiago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08A36"/>
                </a:solidFill>
                <a:latin typeface="Segoe UI Semibold"/>
              </a:rPr>
              <a:t>CEREMONIAS Y CADENCIA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19456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0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1A1A2E"/>
                </a:solidFill>
                <a:latin typeface="Segoe UI"/>
              </a:rPr>
              <a:t>Sprint Planning, Review y Retrospective por sprint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0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1A1A2E"/>
                </a:solidFill>
                <a:latin typeface="Segoe UI"/>
              </a:rPr>
              <a:t>Refinement de 30 min entre Retro y Planning (desde S5)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0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1A1A2E"/>
                </a:solidFill>
                <a:latin typeface="Segoe UI"/>
              </a:rPr>
              <a:t>Cada sprint cierra con una demo visible y demostrable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0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50" b="0" i="0">
                <a:solidFill>
                  <a:srgbClr val="1A1A2E"/>
                </a:solidFill>
                <a:latin typeface="Segoe UI"/>
              </a:rPr>
              <a:t>El chore técnico es obligatorio, no opcional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160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315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4B54A"/>
                </a:solidFill>
                <a:latin typeface="Georgia"/>
              </a:rPr>
              <a:t>15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86460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D5E5EB"/>
                </a:solidFill>
                <a:latin typeface="Segoe UI"/>
              </a:rPr>
              <a:t>Capacidad / semana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41605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4315968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13.2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86460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D5E5EB"/>
                </a:solidFill>
                <a:latin typeface="Segoe UI"/>
              </a:rPr>
              <a:t>Velocidad observada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486400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 i="0">
                <a:solidFill>
                  <a:srgbClr val="11242F"/>
                </a:solidFill>
                <a:latin typeface="Segoe UI Semibold"/>
              </a:rPr>
              <a:t>Enfoque funcional: </a:t>
            </a:r>
            <a:r>
              <a:rPr sz="1150" b="0" i="0">
                <a:solidFill>
                  <a:srgbClr val="5E6B72"/>
                </a:solidFill>
                <a:latin typeface="Segoe UI"/>
              </a:rPr>
              <a:t>cada sprint es un módulo demostrable; la parte técnica se reparte como chore de 1–2 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0584" y="-123444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PLANIFICACIÓN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Roadmap de 16 semanas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Gestión ágil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916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  <a:latin typeface="Segoe UI"/>
              </a:rPr>
              <a:t>Quince sprints (S0–S14). La Definition of Done sube en tres escalones: </a:t>
            </a:r>
            <a:r>
              <a:rPr sz="1250" b="1" i="0">
                <a:solidFill>
                  <a:srgbClr val="162F3D"/>
                </a:solidFill>
                <a:latin typeface="Segoe UI Semibold"/>
              </a:rPr>
              <a:t>v1 baseline → v2 calidad → v3 release candidate.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867912"/>
            <a:ext cx="10835640" cy="45720"/>
          </a:xfrm>
          <a:prstGeom prst="rect">
            <a:avLst/>
          </a:prstGeom>
          <a:solidFill>
            <a:srgbClr val="D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2648" y="3675887"/>
            <a:ext cx="420624" cy="420624"/>
          </a:xfrm>
          <a:prstGeom prst="ellipse">
            <a:avLst/>
          </a:prstGeom>
          <a:solidFill>
            <a:srgbClr val="D9D3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1242F"/>
                </a:solidFill>
                <a:latin typeface="Segoe UI Semibold"/>
              </a:rPr>
              <a:t>S0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63762" y="3675887"/>
            <a:ext cx="420624" cy="420624"/>
          </a:xfrm>
          <a:prstGeom prst="ellipse">
            <a:avLst/>
          </a:prstGeom>
          <a:solidFill>
            <a:srgbClr val="D9D3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3762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1242F"/>
                </a:solidFill>
                <a:latin typeface="Segoe UI Semibold"/>
              </a:rPr>
              <a:t>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994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68587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114876" y="3675887"/>
            <a:ext cx="420624" cy="420624"/>
          </a:xfrm>
          <a:prstGeom prst="ellipse">
            <a:avLst/>
          </a:prstGeom>
          <a:solidFill>
            <a:srgbClr val="D9D3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14876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1242F"/>
                </a:solidFill>
                <a:latin typeface="Segoe UI Semibold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5108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Admin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9702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865990" y="3675887"/>
            <a:ext cx="420624" cy="420624"/>
          </a:xfrm>
          <a:prstGeom prst="ellipse">
            <a:avLst/>
          </a:prstGeom>
          <a:solidFill>
            <a:srgbClr val="D9D3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65990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1242F"/>
                </a:solidFill>
                <a:latin typeface="Segoe UI Semibold"/>
              </a:rPr>
              <a:t>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6222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Mant.v1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0816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17105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17105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87337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Mant.v2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21930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68219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68219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8451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Trazab.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3045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119333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19333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9565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Realtime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24159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870448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70448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>
                <a:solidFill>
                  <a:srgbClr val="B08A36"/>
                </a:solidFill>
                <a:latin typeface="Segoe UI Semibold"/>
              </a:rPr>
              <a:t>★ Métricas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75273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621562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21562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1794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Fact.v1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26387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372676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72676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2908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Fact.v2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77502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123790" y="3675887"/>
            <a:ext cx="420624" cy="420624"/>
          </a:xfrm>
          <a:prstGeom prst="ellipse">
            <a:avLst/>
          </a:prstGeom>
          <a:solidFill>
            <a:srgbClr val="3D7A9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23790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4022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Tienda1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28616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874905" y="3675887"/>
            <a:ext cx="420624" cy="420624"/>
          </a:xfrm>
          <a:prstGeom prst="ellipse">
            <a:avLst/>
          </a:prstGeom>
          <a:solidFill>
            <a:srgbClr val="D4A04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74905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45137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Tienda2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79730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626019" y="3675887"/>
            <a:ext cx="420624" cy="420624"/>
          </a:xfrm>
          <a:prstGeom prst="ellipse">
            <a:avLst/>
          </a:prstGeom>
          <a:solidFill>
            <a:srgbClr val="D4A04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26019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96251" y="2670048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Anuncios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30845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377133" y="3675887"/>
            <a:ext cx="420624" cy="420624"/>
          </a:xfrm>
          <a:prstGeom prst="ellipse">
            <a:avLst/>
          </a:prstGeom>
          <a:solidFill>
            <a:srgbClr val="D4A04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77133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S13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47365" y="448056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0" i="0">
                <a:solidFill>
                  <a:srgbClr val="162F3D"/>
                </a:solidFill>
                <a:latin typeface="Segoe UI Semibold"/>
              </a:rPr>
              <a:t>Panel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81959" y="416052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128248" y="3675887"/>
            <a:ext cx="420624" cy="420624"/>
          </a:xfrm>
          <a:prstGeom prst="ellipse">
            <a:avLst/>
          </a:prstGeom>
          <a:solidFill>
            <a:srgbClr val="D4A04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128248" y="3675887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 Semibold"/>
              </a:rPr>
              <a:t>S14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2660904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95000"/>
              </a:lnSpc>
            </a:pPr>
            <a:r>
              <a:rPr sz="900" b="1" i="0" dirty="0">
                <a:solidFill>
                  <a:srgbClr val="B08A36"/>
                </a:solidFill>
                <a:latin typeface="Segoe UI Semibold"/>
              </a:rPr>
              <a:t>★ </a:t>
            </a:r>
            <a:r>
              <a:rPr sz="900" b="1" i="0" dirty="0" err="1">
                <a:solidFill>
                  <a:srgbClr val="B08A36"/>
                </a:solidFill>
                <a:latin typeface="Segoe UI Semibold"/>
              </a:rPr>
              <a:t>Ejecutivo</a:t>
            </a:r>
            <a:endParaRPr sz="900" b="1" i="0" dirty="0">
              <a:solidFill>
                <a:srgbClr val="B08A36"/>
              </a:solidFill>
              <a:latin typeface="Segoe UI Semibold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1333073" y="3383280"/>
            <a:ext cx="10972" cy="228600"/>
          </a:xfrm>
          <a:prstGeom prst="rect">
            <a:avLst/>
          </a:prstGeom>
          <a:solidFill>
            <a:srgbClr val="B8B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640080" y="5715000"/>
            <a:ext cx="274320" cy="274320"/>
          </a:xfrm>
          <a:prstGeom prst="ellipse">
            <a:avLst/>
          </a:prstGeom>
          <a:solidFill>
            <a:srgbClr val="D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05840" y="567842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62F3D"/>
                </a:solidFill>
                <a:latin typeface="Segoe UI"/>
              </a:rPr>
              <a:t>DoD v1 — Baseline funcional</a:t>
            </a:r>
          </a:p>
        </p:txBody>
      </p:sp>
      <p:sp>
        <p:nvSpPr>
          <p:cNvPr id="74" name="Oval 73"/>
          <p:cNvSpPr/>
          <p:nvPr/>
        </p:nvSpPr>
        <p:spPr>
          <a:xfrm>
            <a:off x="4480560" y="5715000"/>
            <a:ext cx="274320" cy="274320"/>
          </a:xfrm>
          <a:prstGeom prst="ellipse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46320" y="567842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62F3D"/>
                </a:solidFill>
                <a:latin typeface="Segoe UI"/>
              </a:rPr>
              <a:t>DoD v2 — Calidad + integración</a:t>
            </a:r>
          </a:p>
        </p:txBody>
      </p:sp>
      <p:sp>
        <p:nvSpPr>
          <p:cNvPr id="76" name="Oval 75"/>
          <p:cNvSpPr/>
          <p:nvPr/>
        </p:nvSpPr>
        <p:spPr>
          <a:xfrm>
            <a:off x="8321040" y="5715000"/>
            <a:ext cx="274320" cy="274320"/>
          </a:xfrm>
          <a:prstGeom prst="ellipse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86800" y="567842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62F3D"/>
                </a:solidFill>
                <a:latin typeface="Segoe UI"/>
              </a:rPr>
              <a:t>DoD v3 — Release candidate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CALIDAD ESCALONADA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Evolución de la Definition of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Gestión ágil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A1A2E"/>
                </a:solidFill>
                <a:latin typeface="Segoe UI"/>
              </a:rPr>
              <a:t>Cada versión hereda los criterios de la anterior y añade nuevos. La calidad nunca baja; con el enfoque funcional, se cumple vía chores intercalados.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3547872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3547872" cy="868680"/>
          </a:xfrm>
          <a:prstGeom prst="roundRect">
            <a:avLst>
              <a:gd name="adj" fmla="val 5000"/>
            </a:avLst>
          </a:prstGeom>
          <a:solidFill>
            <a:srgbClr val="D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743200"/>
            <a:ext cx="3547872" cy="411480"/>
          </a:xfrm>
          <a:prstGeom prst="rect">
            <a:avLst/>
          </a:prstGeom>
          <a:solidFill>
            <a:srgbClr val="D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377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1242F"/>
                </a:solidFill>
                <a:latin typeface="Georgia"/>
              </a:rPr>
              <a:t>DoD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7797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242F"/>
                </a:solidFill>
                <a:latin typeface="Segoe UI Semibold"/>
              </a:rPr>
              <a:t>Baseline funcional  ·  Sprints 0–3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33756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3D7A92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CI en verde: lint + unit tests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3D7A92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PR revisado por un developer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3D7A92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README y datos demo (seed)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3D7A92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Deploy preview en Vercel por PR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6784" y="3931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>
                <a:solidFill>
                  <a:srgbClr val="D4A043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286000"/>
            <a:ext cx="3547872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34256" y="2286000"/>
            <a:ext cx="3547872" cy="86868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34256" y="2743200"/>
            <a:ext cx="3547872" cy="41148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62856" y="2377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Georgia"/>
              </a:rPr>
              <a:t>DoD v2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27797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egoe UI Semibold"/>
              </a:rPr>
              <a:t>Calidad + integración  ·  Sprints 4–10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33756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Tests de integración en flujos críticos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Cobertura ≥60% en módulos core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Endpoint /health en staging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Playwright + 1 E2E como gate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tsc --noEmit sin errores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3931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 dirty="0">
                <a:solidFill>
                  <a:srgbClr val="D4A043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3" y="2286000"/>
            <a:ext cx="3547872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01583" y="2286000"/>
            <a:ext cx="3547872" cy="868680"/>
          </a:xfrm>
          <a:prstGeom prst="roundRect">
            <a:avLst>
              <a:gd name="adj" fmla="val 5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1583" y="2743200"/>
            <a:ext cx="3547872" cy="41148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30183" y="23774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0C1921"/>
                </a:solidFill>
                <a:latin typeface="Georgia"/>
              </a:rPr>
              <a:t>DoD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2779776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C1921"/>
                </a:solidFill>
                <a:latin typeface="Segoe UI Semibold"/>
              </a:rPr>
              <a:t>Release candidate  ·  Sprints 11–14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33756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E2E mínimos de módulos críticos en CI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No-PII en logs (solo IDs)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Checklist OWASP Top 10 aplicada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Lighthouse ≥80 en rutas clave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00" b="0" i="0">
                <a:solidFill>
                  <a:srgbClr val="1A1A2E"/>
                </a:solidFill>
                <a:latin typeface="Segoe UI"/>
              </a:rPr>
              <a:t>Release candidate etiquetado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56284" y="1554241"/>
            <a:ext cx="5287493" cy="3200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800" b="1" i="0" dirty="0">
                <a:solidFill>
                  <a:srgbClr val="1B3A4B"/>
                </a:solidFill>
                <a:latin typeface="Georgia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73736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B54A"/>
                </a:solidFill>
                <a:latin typeface="Segoe UI Semibold"/>
              </a:rPr>
              <a:t>BAJO EL CAPÓ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749807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Arquitectura y tecnología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D5E5EB"/>
                </a:solidFill>
                <a:latin typeface="Segoe UI"/>
              </a:rPr>
              <a:t>El stack moderno que sostiene Zity, cómo se conectan sus capas y cómo se protegen los datos por rol.</a:t>
            </a:r>
          </a:p>
        </p:txBody>
      </p:sp>
      <p:pic>
        <p:nvPicPr>
          <p:cNvPr id="9" name="Picture 8" descr="zity_logo_si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27494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48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Zity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E4B54A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D9D3C5"/>
                </a:solidFill>
                <a:latin typeface="Segoe UI"/>
              </a:rPr>
              <a:t>   ·   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D9D3C5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TECNOLOGÍA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Stack tecnológico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Arquitectura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91440" cy="1920240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2057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FRONTEND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587752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587752"/>
            <a:ext cx="10789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React 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2587752"/>
            <a:ext cx="88696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2587752"/>
            <a:ext cx="8869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Vite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79" y="2587752"/>
            <a:ext cx="1559052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79" y="2587752"/>
            <a:ext cx="155905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TailwindCSS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" y="3099816"/>
            <a:ext cx="1655064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099816"/>
            <a:ext cx="16550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React Router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79191" y="3099816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79191" y="3099816"/>
            <a:ext cx="1463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TypeScript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1874519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81928" y="1874519"/>
            <a:ext cx="91440" cy="192024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74536" y="2057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BACKEND Y DATOS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74536" y="2587752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74536" y="2587752"/>
            <a:ext cx="10789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Supabase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2587752"/>
            <a:ext cx="136702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2587752"/>
            <a:ext cx="13670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Postgres 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49740" y="2587752"/>
            <a:ext cx="1271016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49740" y="2587752"/>
            <a:ext cx="127101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Auth (JWT)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74536" y="3099816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74536" y="3099816"/>
            <a:ext cx="10789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Realtime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3099816"/>
            <a:ext cx="982980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20" y="3099816"/>
            <a:ext cx="9829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Storage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5692" y="3099816"/>
            <a:ext cx="232714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5692" y="3099816"/>
            <a:ext cx="23271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Edge Functions (Deno)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02336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66928" y="4023360"/>
            <a:ext cx="91440" cy="1920240"/>
          </a:xfrm>
          <a:prstGeom prst="roundRect">
            <a:avLst>
              <a:gd name="adj" fmla="val 50000"/>
            </a:avLst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" y="4206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VISUALIZACIÓN Y 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9536" y="4736592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9536" y="4736592"/>
            <a:ext cx="107899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Recharts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4736592"/>
            <a:ext cx="982980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4736592"/>
            <a:ext cx="9829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pdf-lib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50691" y="4736592"/>
            <a:ext cx="1655064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50691" y="4736592"/>
            <a:ext cx="16550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react-markdown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1928" y="4023360"/>
            <a:ext cx="539496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281928" y="4023360"/>
            <a:ext cx="91440" cy="192024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74536" y="4206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DEVOPS Y CALIDAD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74536" y="4736592"/>
            <a:ext cx="1655064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74536" y="4736592"/>
            <a:ext cx="165506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GitHub Actions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4192" y="4736592"/>
            <a:ext cx="88696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94192" y="4736592"/>
            <a:ext cx="8869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Vercel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445752" y="4736592"/>
            <a:ext cx="88696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45752" y="4736592"/>
            <a:ext cx="8869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Vitest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74536" y="5248656"/>
            <a:ext cx="1271016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74536" y="5248656"/>
            <a:ext cx="127101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Playwright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10144" y="5248656"/>
            <a:ext cx="886968" cy="402336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10144" y="5248656"/>
            <a:ext cx="8869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ESLint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DISEÑO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Arquitectura en capas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Arquitectura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10469880" cy="109728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1892807"/>
            <a:ext cx="9921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 Semibold"/>
              </a:rPr>
              <a:t>FRONTEND  ·  SPA React + Vite (desplegada en Vercel)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35000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35000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3A4B"/>
                </a:solidFill>
                <a:latin typeface="Segoe UI Semibold"/>
              </a:rPr>
              <a:t>Pages por 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52344" y="2350008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52344" y="235000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3A4B"/>
                </a:solidFill>
                <a:latin typeface="Segoe UI Semibold"/>
              </a:rPr>
              <a:t>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7368" y="235000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087368" y="23500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3A4B"/>
                </a:solidFill>
                <a:latin typeface="Segoe UI Semibold"/>
              </a:rPr>
              <a:t>Custom Hooks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05272" y="235000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05272" y="2350008"/>
            <a:ext cx="1005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3A4B"/>
                </a:solidFill>
                <a:latin typeface="Segoe UI Semibold"/>
              </a:rPr>
              <a:t>Contexts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57416" y="235000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57416" y="235000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B3A4B"/>
                </a:solidFill>
                <a:latin typeface="Segoe UI Semibold"/>
              </a:rPr>
              <a:t>Supabase JS 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2020" y="29077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B08A36"/>
                </a:solidFill>
                <a:latin typeface="Segoe UI Semibold"/>
              </a:rPr>
              <a:t>▲  HTTPS  ·  WebSocket (Realtime)  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246120"/>
            <a:ext cx="10469880" cy="1874519"/>
          </a:xfrm>
          <a:prstGeom prst="roundRect">
            <a:avLst>
              <a:gd name="adj" fmla="val 4000"/>
            </a:avLst>
          </a:prstGeom>
          <a:solidFill>
            <a:srgbClr val="EFF6F8"/>
          </a:solidFill>
          <a:ln w="12700">
            <a:solidFill>
              <a:srgbClr val="D5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346704"/>
            <a:ext cx="9921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2F3D"/>
                </a:solidFill>
                <a:latin typeface="Segoe UI Semibold"/>
              </a:rPr>
              <a:t>SUPABASE  ·  Backend gestionado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3749039"/>
            <a:ext cx="1837943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3749039"/>
            <a:ext cx="1837943" cy="73152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2728" y="3877056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F3D"/>
                </a:solidFill>
                <a:latin typeface="Segoe UI Semibold"/>
              </a:rPr>
              <a:t>Postgres 17 + 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" y="449884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E6B72"/>
                </a:solidFill>
                <a:latin typeface="Segoe UI"/>
              </a:rPr>
              <a:t>Tablas, triggers, funciones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3824" y="3749039"/>
            <a:ext cx="1837943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163824" y="3749039"/>
            <a:ext cx="1837943" cy="73152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73552" y="3877056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F3D"/>
                </a:solidFill>
                <a:latin typeface="Segoe UI Semibold"/>
              </a:rPr>
              <a:t>Auth (JWT)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3552" y="449884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E6B72"/>
                </a:solidFill>
                <a:latin typeface="Segoe UI"/>
              </a:rPr>
              <a:t>Login, roles, recovery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84648" y="3749039"/>
            <a:ext cx="1837943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84648" y="3749039"/>
            <a:ext cx="1837943" cy="73152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94376" y="3877056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F3D"/>
                </a:solidFill>
                <a:latin typeface="Segoe UI Semibold"/>
              </a:rPr>
              <a:t>Realtime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4376" y="449884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E6B72"/>
                </a:solidFill>
                <a:latin typeface="Segoe UI"/>
              </a:rPr>
              <a:t>Suscripciones en vivo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5472" y="3749039"/>
            <a:ext cx="1837943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205472" y="3749039"/>
            <a:ext cx="1837943" cy="73152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3877056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F3D"/>
                </a:solidFill>
                <a:latin typeface="Segoe UI Semibold"/>
              </a:rPr>
              <a:t>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49884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E6B72"/>
                </a:solidFill>
                <a:latin typeface="Segoe UI"/>
              </a:rPr>
              <a:t>Buckets + URL firmadas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26296" y="3749039"/>
            <a:ext cx="1837943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226296" y="3749039"/>
            <a:ext cx="1837943" cy="73152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36024" y="3877056"/>
            <a:ext cx="165506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F3D"/>
                </a:solidFill>
                <a:latin typeface="Segoe UI Semibold"/>
              </a:rPr>
              <a:t>Edge Functions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36024" y="4498848"/>
            <a:ext cx="165506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5E6B72"/>
                </a:solidFill>
                <a:latin typeface="Segoe UI"/>
              </a:rPr>
              <a:t>Invitaciones, bloqueo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5440680"/>
            <a:ext cx="10469880" cy="640080"/>
          </a:xfrm>
          <a:prstGeom prst="roundRect">
            <a:avLst>
              <a:gd name="adj" fmla="val 6000"/>
            </a:avLst>
          </a:prstGeom>
          <a:solidFill>
            <a:srgbClr val="112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43000" y="5440680"/>
            <a:ext cx="9921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E4B54A"/>
                </a:solidFill>
                <a:latin typeface="Segoe UI Semibold"/>
              </a:rPr>
              <a:t>CI / CD   </a:t>
            </a:r>
            <a:r>
              <a:rPr sz="1150" b="0" i="0">
                <a:solidFill>
                  <a:srgbClr val="FFFFFF"/>
                </a:solidFill>
                <a:latin typeface="Segoe UI"/>
              </a:rPr>
              <a:t>GitHub Actions (lint + tests como gate)  →  deploy automático a Vercel  →  verificación de /health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DATOS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Modelo de datos y Row Level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Arquitectura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37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2E"/>
                </a:solidFill>
                <a:latin typeface="Segoe UI"/>
              </a:rPr>
              <a:t>Entidades organizadas por dominio. Cada tabla tiene políticas RLS: el residente solo ve lo suyo, el técnico sus asignaciones, el observador agregados de solo lectura.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8600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6928" y="228600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51460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2286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Usuarios y acceso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71216"/>
            <a:ext cx="947318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871216"/>
            <a:ext cx="94731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usuarios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6854" y="2871216"/>
            <a:ext cx="1283817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06854" y="2871216"/>
            <a:ext cx="128381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invitaciones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4256" y="228600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34256" y="228600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4256" y="251460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17136" y="2286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Mantenimiento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136" y="2871216"/>
            <a:ext cx="1199692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2871216"/>
            <a:ext cx="119969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solicitudes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26556" y="2871216"/>
            <a:ext cx="1283817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26556" y="2871216"/>
            <a:ext cx="128381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asignaciones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17136" y="3255264"/>
            <a:ext cx="1704441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17136" y="3255264"/>
            <a:ext cx="170444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historial_estados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3" y="228600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101583" y="228600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3" y="251460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84463" y="2286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Facturación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4463" y="2871216"/>
            <a:ext cx="947318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84463" y="2871216"/>
            <a:ext cx="94731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facturas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41510" y="2871216"/>
            <a:ext cx="1283817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41510" y="2871216"/>
            <a:ext cx="128381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metodos_pago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79476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66928" y="379476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402336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9808" y="37947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Tienda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9808" y="4379976"/>
            <a:ext cx="1031443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9808" y="4379976"/>
            <a:ext cx="10314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productos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90979" y="4379976"/>
            <a:ext cx="863193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0979" y="4379976"/>
            <a:ext cx="86319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pedidos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4764024"/>
            <a:ext cx="1283817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9808" y="4764024"/>
            <a:ext cx="128381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pedido_items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6" y="379476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334256" y="379476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334256" y="402336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17136" y="37947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Comunicación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17136" y="4379976"/>
            <a:ext cx="947318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17136" y="4379976"/>
            <a:ext cx="94731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anuncios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74182" y="4379976"/>
            <a:ext cx="1620316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74182" y="4379976"/>
            <a:ext cx="16203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anuncio_lecturas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17136" y="4764024"/>
            <a:ext cx="1452067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17136" y="4764024"/>
            <a:ext cx="145206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notificaciones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01583" y="3794760"/>
            <a:ext cx="3547872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101583" y="3794760"/>
            <a:ext cx="3547872" cy="457200"/>
          </a:xfrm>
          <a:prstGeom prst="roundRect">
            <a:avLst>
              <a:gd name="adj" fmla="val 7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01583" y="4023360"/>
            <a:ext cx="3547872" cy="228600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84463" y="37947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 Semibold"/>
              </a:rPr>
              <a:t>Transversal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84463" y="4379976"/>
            <a:ext cx="1031443" cy="310896"/>
          </a:xfrm>
          <a:prstGeom prst="roundRect">
            <a:avLst>
              <a:gd name="adj" fmla="val 50000"/>
            </a:avLst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84463" y="4379976"/>
            <a:ext cx="103144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62F3D"/>
                </a:solidFill>
                <a:latin typeface="Segoe UI Semibold"/>
              </a:rPr>
              <a:t>audit_log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5440680"/>
            <a:ext cx="11064240" cy="713232"/>
          </a:xfrm>
          <a:prstGeom prst="roundRect">
            <a:avLst>
              <a:gd name="adj" fmla="val 10000"/>
            </a:avLst>
          </a:prstGeom>
          <a:solidFill>
            <a:srgbClr val="EFF6F8"/>
          </a:solidFill>
          <a:ln w="12700">
            <a:solidFill>
              <a:srgbClr val="D5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7240" y="5440680"/>
            <a:ext cx="106984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62F3D"/>
                </a:solidFill>
                <a:latin typeface="Segoe UI Semibold"/>
              </a:rPr>
              <a:t>Seguridad por diseño:  </a:t>
            </a:r>
            <a:r>
              <a:rPr sz="1200" b="0" i="0">
                <a:solidFill>
                  <a:srgbClr val="5E6B72"/>
                </a:solidFill>
                <a:latin typeface="Segoe UI"/>
              </a:rPr>
              <a:t>RLS por tabla  ·  service_role solo en Edge Functions  ·  audit_log inmutable (write-only)  ·  Storage con URLs firmadas.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18120" y="-21709"/>
            <a:ext cx="3968496" cy="3200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800" b="1" i="0" dirty="0">
                <a:solidFill>
                  <a:srgbClr val="1B3A4B"/>
                </a:solidFill>
                <a:latin typeface="Georgia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73736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B54A"/>
                </a:solidFill>
                <a:latin typeface="Segoe UI Semibold"/>
              </a:rPr>
              <a:t>INCREMENTO A INCREMENTO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749807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Recorrido por sprints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D5E5EB"/>
                </a:solidFill>
                <a:latin typeface="Segoe UI"/>
              </a:rPr>
              <a:t>Lo más importante construido en cada sprint, de los cimientos (S0) al broche ejecutivo (S14).</a:t>
            </a:r>
          </a:p>
        </p:txBody>
      </p:sp>
      <p:pic>
        <p:nvPicPr>
          <p:cNvPr id="9" name="Picture 8" descr="zity_logo_si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27494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48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Zity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2984" y="4416552"/>
            <a:ext cx="3332479" cy="1874519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zity-02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343400"/>
            <a:ext cx="3332479" cy="1874519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E4B54A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D9D3C5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D9D3C5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0  ·  SEMANA 2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Setup técnico y cimientos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B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62F3D"/>
                </a:solidFill>
                <a:latin typeface="Segoe UI Semibold"/>
              </a:rPr>
              <a:t>DoD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107899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Repositorio y flujo de PR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revisión obligatoria de al menos un developer.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CI con GitHub Actions: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lint (ESLint) + tests (Vitest) como gate de merge.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Supabase aprovisionado: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Postgres 17, Auth, Storage y Realtime.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ADRs base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y deploy preview en Vercel por cada Pull Request.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1078992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10424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Base del proyecto: entorno reproducible, datos demo (npm run seed) y CI en verde.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  ·  SEMANA 3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Módulo de Autenticación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B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62F3D"/>
                </a:solidFill>
                <a:latin typeface="Segoe UI Semibold"/>
              </a:rPr>
              <a:t>DoD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Registro en 2 pasos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y login por rol (admin, residente, técnico).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Recuperación de contraseña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por email con enlace válido 60 minutos.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Rutas protegidas: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cada rol aterriza en su propio panel.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Estados de cuenta: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pendiente → activo → bloqueado.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Seguridad desde el día uno: JWT de Supabase Auth y verificación por email.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Pantalla de inicio de sesión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2  ·  SEMANA 4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Panel admin y gestión de usuarios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B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62F3D"/>
                </a:solidFill>
                <a:latin typeface="Segoe UI Semibold"/>
              </a:rPr>
              <a:t>DoD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Panel de administración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como centro de control del edificio.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Gestión de usuarios: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ver, filtrar, invitar (token 48 h) y aprobar.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Bloqueo / desbloqueo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cierre inmediato de la sesión (revoke).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Edge Functions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service_role para operaciones administrativas.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Invitaciones y bloqueo se ejecutan en el backend (Deno) para no exponer privilegios.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3-admin-usu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Gestión de usuarios (admin)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3  ·  SEMANA 5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Mantenimiento v1 — crear y 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B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62F3D"/>
                </a:solidFill>
                <a:latin typeface="Segoe UI Semibold"/>
              </a:rPr>
              <a:t>DoD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El residente crea solicitudes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foto (cámara/galería), tipo, categoría y prioridad.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Código legible autogenerado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(ZIT-NNN) mediante trigger en Postgres.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Vista admin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todas las solicitudes en una tabla filtrable.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Foto a Storage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URL firmada (acceso controlado).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Núcleo del producto: el canal único de reportes reemplaza a WhatsApp y las notas.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8-admin-solicitu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Solicitudes de mantenimiento (admin)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4  ·  SEMANA 6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Mantenimiento v2 — ciclo completo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Asignación de técnico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en pocos clics; vista de técnico con sus tareas.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Flujo de estados: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pendiente → en progreso → resuelta → cerrada.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Cierre con nota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(≥20 caracteres) y cámara optimizada para móvil.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Confirmación del residente: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confirma o rechaza (3 rechazos escalan al admin).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Transición a DoD v2: tests de integración y cobertura ≥60% en módulos 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2148839"/>
            <a:ext cx="47091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4B54A"/>
                </a:solidFill>
                <a:latin typeface="Segoe UI Semibold"/>
              </a:rPr>
              <a:t>FLUJO DE ESTADOS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2788920"/>
            <a:ext cx="310896" cy="310896"/>
          </a:xfrm>
          <a:prstGeom prst="ellipse">
            <a:avLst/>
          </a:prstGeom>
          <a:solidFill>
            <a:srgbClr val="D9D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2761488"/>
            <a:ext cx="40690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 Semibold"/>
              </a:rPr>
              <a:t>Pendiente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2864" y="3099815"/>
            <a:ext cx="22860" cy="274320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3374136"/>
            <a:ext cx="310896" cy="310896"/>
          </a:xfrm>
          <a:prstGeom prst="ellipse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9480" y="3346704"/>
            <a:ext cx="40690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 Semibold"/>
              </a:rPr>
              <a:t>En progreso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864" y="3685032"/>
            <a:ext cx="22860" cy="274320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766560" y="3959352"/>
            <a:ext cx="310896" cy="310896"/>
          </a:xfrm>
          <a:prstGeom prst="ellipse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9480" y="3931920"/>
            <a:ext cx="40690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 Semibold"/>
              </a:rPr>
              <a:t>Resuelta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12864" y="4270248"/>
            <a:ext cx="22860" cy="274320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766560" y="4544568"/>
            <a:ext cx="310896" cy="310896"/>
          </a:xfrm>
          <a:prstGeom prst="ellipse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69480" y="4517136"/>
            <a:ext cx="40690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 Semibold"/>
              </a:rPr>
              <a:t>Cerrada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148071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D5E5EB"/>
                </a:solidFill>
                <a:latin typeface="Segoe UI"/>
              </a:rPr>
              <a:t>3 rechazos del residente escalan la solicitud al admin.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5  ·  SEMANA 7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Trazabilidad y auditoría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Log de auditoría visible: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quién hizo qué, cuándo y sobre qué entidad.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Historial completo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de cada solicitud (línea de tiempo de estados).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Perfil editable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(nombre, teléfono, contraseña).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Auditoría write-only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vía service_role; lectura solo para admin (RLS).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Cada acción crítica queda registrada de forma inmutable para rendir cuentas.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9-admin-audito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Auditoría de acciones (admin)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6  ·  SEMANA 8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Comunicación en tiempo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Notificaciones en vivo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(Supabase Realtime) ante cambios de estado y asignaciones.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Bandeja con campana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 indicador de no leídos.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Email de aviso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(Edge Function; Resend en producción).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Foto de cierre antes/después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y alerta automática al admin.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El sistema Realtime del S6 se reutiliza luego en facturas (S8) y anuncios (S12).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0" y="2167127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167127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Realtime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87751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WebSocket de Supabase: la interfaz se actualiza sola, sin recargar.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136391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1363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Campana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57015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Contador de no leídos recalculado desde la base de datos.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105656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10565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80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Aviso por correo vía Edge Function (dry-run sin API key).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7  ·  SEMANA 9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D4A043"/>
                </a:solidFill>
                <a:latin typeface="Segoe UI"/>
              </a:rPr>
              <a:t>★  </a:t>
            </a:r>
            <a:r>
              <a:rPr sz="2800" b="1" i="0">
                <a:solidFill>
                  <a:srgbClr val="11242F"/>
                </a:solidFill>
                <a:latin typeface="Georgia"/>
              </a:rPr>
              <a:t>Métricas y Dashboard visual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Panel de KPIs: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total, pendientes, en proceso y resueltas.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Tiempo de resolución: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promedio, mediana (P50) y percentil 95.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Gráficas Recharts: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por tipo, top categorías y tendencia mensual.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Exportación a CSV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por rango (compatible con Excel) + refresco automático.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Vista materializada en Postgres (caché horario) e instalación de Playwright (1er E2E).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4-admin-metric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Dashboard de métricas (admin)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8  ·  SEMANA 10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Facturación v1 — emisión y vista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Emisión por tipo: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luz, agua, pensión y multas.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Individual o en lote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a todos los residentes activos (transacción atómica).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Vista del residente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desglose, vencimiento y badges de estado.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Número legible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F-AAAA-MM-NNN, anti-duplicados (UNIQUE) y aviso Realtime.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El lote crea N facturas en una sola transacción: si una falla, se revierte todo.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5-admin-factu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Facturación (admin)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9  ·  SEMANA 11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Facturación v2 — cobros y recordatorios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Marcar como pagada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método y fecha (operación idempotente).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Totales del periodo: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emitido / cobrado / pendiente / vencido.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Job diario (pg_cron):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vencidas automáticas + recordatorio 3 días antes.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Comprobante PDF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descargable (pdf-lib) y endpoint /health.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Endpoint /health (DB + Auth + Storage): semilla de observabilidad que cierra DoD v2.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74519"/>
            <a:ext cx="5349240" cy="3200400"/>
          </a:xfrm>
          <a:prstGeom prst="roundRect">
            <a:avLst>
              <a:gd name="adj" fmla="val 5000"/>
            </a:avLst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75120" y="2167127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167127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Cobros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587751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El admin registra el pago; el badge pasa a verde en tiempo real.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136391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136391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Automatización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57015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pg_cron marca vencidas y envía recordatorios sin intervención.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105656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10565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Comprobante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80"/>
            <a:ext cx="47091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D5E5EB"/>
                </a:solidFill>
                <a:latin typeface="Segoe UI"/>
              </a:rPr>
              <a:t>PDF con logo, desglose y sello PAGADO, generado en el cliente.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10  ·  SEMANA 12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Tienda interna v1 — catálogo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 Semibold"/>
              </a:rPr>
              <a:t>DoD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Gestión de catálogo (admin):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alta/baja/edición con foto, precio y stock.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Baja lógica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(reactivable) y registro en auditoría; badges de stock.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Catálogo del residente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en grilla con filtros y búsqueda (debounce).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CD a staging: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deploy automático en cada merge a main (cierra DoD v2).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Despliegue continuo: GitHub Actions publica a Vercel con la CI como 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06-admin-ti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Catálogo de la tienda (admin)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11  ·  SEMANA 13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Tienda interna v2 — carrito + factura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DoD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Carrito con mini-carrito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en el header y descuento de stock atómico (sin sobreventa).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Integración con facturación: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el pedido se suma como línea "tienda" a la factura mensual.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Historial de pedidos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(residente) y vista admin con cierre de periodo.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Chore no-PII: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los logs guardan solo IDs (inicia DoD v3).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Transición a DoD v3: E2E mínimos en CI, no-PII en logs y release candidate.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11-residente-ti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Tienda (vista del residente)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12  ·  SEMANA 14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Tablón de anuncios del edificio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DoD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Admin publica comunicados: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categoría, prioridad, imagen/PDF, fijar y vigencia.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Residente recibe en vivo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(Realtime) con badge "Nuevo" y marcar como leído.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Notificación selectiva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(solo prioridad importante o urgente).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Chore OWASP: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A01 acceso (RLS), A03 XSS (sanitizado en servidor), A05 config.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Un &lt;script&gt; en el cuerpo se muestra como texto: sanitización en servidor + render seguro.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12-residente-anun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Tablón de anuncios (residente)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13  ·  SEMANA 15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Panel integral del residente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DoD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Home con 3 tarjetas: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solicitudes activas, facturas pendientes y pedidos del mes.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Cada tarjeta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navega al detalle con un clic; diseño responsive.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Sesiones activas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y cerrar todas al cambiar la contraseña.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Chore Lighthouse ≥80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con vistas Postgres ligeras para el cálculo de totales.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Las 3 tarjetas reutilizan datos existentes; no se inventan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10-residente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Panel integral del residente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SPRINT 14  ·  SEMANA 16  ·  RECORRIDO POR SPRINTS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 i="0">
                <a:solidFill>
                  <a:srgbClr val="D4A043"/>
                </a:solidFill>
                <a:latin typeface="Segoe UI"/>
              </a:rPr>
              <a:t>★  </a:t>
            </a:r>
            <a:r>
              <a:rPr sz="2800" b="1" i="0">
                <a:solidFill>
                  <a:srgbClr val="11242F"/>
                </a:solidFill>
                <a:latin typeface="Georgia"/>
              </a:rPr>
              <a:t>Dashboard ejecutivo + Release Candidate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829800" y="4572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29800" y="45720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C1921"/>
                </a:solidFill>
                <a:latin typeface="Segoe UI Semibold"/>
              </a:rPr>
              <a:t>DoD v3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Recorrido por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83080"/>
            <a:ext cx="53949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Rol "observador"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(Sra. Rosa Díaz): acceso de solo lectura.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Dashboard ejecutivo: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Mantenimiento + Finanzas + Tienda en una sola vista.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Consolida todo: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KPIs (S7) + facturas (S8/S9) + pedidos (S10/S11). No inventa datos.</a:t>
            </a:r>
          </a:p>
          <a:p>
            <a:pPr algn="l">
              <a:lnSpc>
                <a:spcPct val="106000"/>
              </a:lnSpc>
              <a:spcAft>
                <a:spcPts val="1200"/>
              </a:spcAft>
            </a:pPr>
            <a:r>
              <a:rPr sz="12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450" b="1" i="0">
                <a:solidFill>
                  <a:srgbClr val="162F3D"/>
                </a:solidFill>
                <a:latin typeface="Segoe UI Semibold"/>
              </a:rPr>
              <a:t>Release Candidate </a:t>
            </a:r>
            <a:r>
              <a:rPr sz="1450" b="0" i="0">
                <a:solidFill>
                  <a:srgbClr val="1A1A2E"/>
                </a:solidFill>
                <a:latin typeface="Segoe UI"/>
              </a:rPr>
              <a:t>v1.0.0-rc + smoke tests post-deploy + demo final integral.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440680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2EC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5568696"/>
            <a:ext cx="64008" cy="45720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5541264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 i="0">
                <a:solidFill>
                  <a:srgbClr val="B08A36"/>
                </a:solidFill>
                <a:latin typeface="Segoe UI Semibold"/>
              </a:rPr>
              <a:t>CHORE TÉCNICO   </a:t>
            </a:r>
            <a:r>
              <a:rPr sz="1100" b="0" i="0">
                <a:solidFill>
                  <a:srgbClr val="162F3D"/>
                </a:solidFill>
                <a:latin typeface="Segoe UI"/>
              </a:rPr>
              <a:t>Broche del curso: la integración visual de todos los módulos construidos.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956815"/>
            <a:ext cx="5349240" cy="3008947"/>
          </a:xfrm>
          <a:prstGeom prst="roundRect">
            <a:avLst>
              <a:gd name="adj" fmla="val 3000"/>
            </a:avLst>
          </a:prstGeom>
          <a:solidFill>
            <a:srgbClr val="E0D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zity-13-ejecuti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19"/>
            <a:ext cx="5349240" cy="3008947"/>
          </a:xfrm>
          <a:prstGeom prst="rect">
            <a:avLst/>
          </a:prstGeom>
          <a:ln w="15875">
            <a:solidFill>
              <a:srgbClr val="D9D3C5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6355080" y="4956619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1">
                <a:solidFill>
                  <a:srgbClr val="5E6B72"/>
                </a:solidFill>
                <a:latin typeface="Segoe UI"/>
              </a:rPr>
              <a:t>Dashboard ejecutivo (rol observador)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2802" y="-457438"/>
            <a:ext cx="4572000" cy="32008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20800" b="1" i="0" dirty="0">
                <a:solidFill>
                  <a:srgbClr val="1B3A4B"/>
                </a:solidFill>
                <a:latin typeface="Georgia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91440" cy="173736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E4B54A"/>
                </a:solidFill>
                <a:latin typeface="Segoe UI Semibold"/>
              </a:rPr>
              <a:t>PARA TERMINAR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749807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Calidad, resultados y 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D5E5EB"/>
                </a:solidFill>
                <a:latin typeface="Segoe UI"/>
              </a:rPr>
              <a:t>La ingeniería detrás del producto, los números del proyecto y lo que viene después del curso.</a:t>
            </a:r>
          </a:p>
        </p:txBody>
      </p:sp>
      <p:pic>
        <p:nvPicPr>
          <p:cNvPr id="9" name="Picture 8" descr="zity_logo_sin_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627494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5486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Zity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E4B54A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D9D3C5"/>
                </a:solidFill>
                <a:latin typeface="Segoe UI"/>
              </a:rPr>
              <a:t>   ·   Cierre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D9D3C5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Calidad e ingeniería transversal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6928" y="1874519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0756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532887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Vitest: unit + cobertura ≥60% en core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Playwright: E2E de flujos críticos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Tests de concurrencia (stock, no sobreventa)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1874519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81928" y="1874519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207568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CI /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532887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GitHub Actions: lint + tests como gate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Deploy automático a Vercel en cada merge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Endpoint /health (DB + Auth + Storage)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2336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66928" y="4023360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" y="4224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681728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Row Level Security por tabla y rol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Edge Functions con service_role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OWASP Top 10: A01 acceso, A03 XSS, A05 config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81928" y="4023360"/>
            <a:ext cx="539496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81928" y="4023360"/>
            <a:ext cx="5394960" cy="91440"/>
          </a:xfrm>
          <a:prstGeom prst="roundRect">
            <a:avLst>
              <a:gd name="adj" fmla="val 50000"/>
            </a:avLst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4224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242F"/>
                </a:solidFill>
                <a:latin typeface="Segoe UI Semibold"/>
              </a:rPr>
              <a:t>PRIVACIDAD Y RENDIMIENTO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4681728"/>
            <a:ext cx="493776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No-PII en logs (solo IDs)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Lighthouse ≥80 en rutas principales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95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150" b="0" i="0">
                <a:solidFill>
                  <a:srgbClr val="1A1A2E"/>
                </a:solidFill>
                <a:latin typeface="Segoe UI"/>
              </a:rPr>
              <a:t>Auditoría inmutable + ADRs documentados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RESULTADOS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Lo que entregamos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265176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600199" y="1947672"/>
            <a:ext cx="585216" cy="6400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21488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1B3A4B"/>
                </a:solidFill>
                <a:latin typeface="Georgia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34639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1242F"/>
                </a:solidFill>
                <a:latin typeface="Segoe UI Semibold"/>
              </a:rPr>
              <a:t>Sprints (S0–S14)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2"/>
                </a:solidFill>
                <a:latin typeface="Segoe UI"/>
              </a:rPr>
              <a:t>entregados y demostrados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1965960"/>
            <a:ext cx="265176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53128" y="1947672"/>
            <a:ext cx="585216" cy="6400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9856" y="21488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1B3A4B"/>
                </a:solidFill>
                <a:latin typeface="Georgia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834639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1242F"/>
                </a:solidFill>
                <a:latin typeface="Segoe UI Semibold"/>
              </a:rPr>
              <a:t>Módulos funcionales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2"/>
                </a:solidFill>
                <a:latin typeface="Segoe UI"/>
              </a:rPr>
              <a:t>de mantenimiento a ejecutivo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1965960"/>
            <a:ext cx="265176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06056" y="1947672"/>
            <a:ext cx="585216" cy="6400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72784" y="21488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1B3A4B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2834639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1242F"/>
                </a:solidFill>
                <a:latin typeface="Segoe UI Semibold"/>
              </a:rPr>
              <a:t>Roles con RLS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2"/>
                </a:solidFill>
                <a:latin typeface="Segoe UI"/>
              </a:rPr>
              <a:t>admin, residente, técnico, observador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1" y="1965960"/>
            <a:ext cx="2651760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58983" y="1947672"/>
            <a:ext cx="585216" cy="64008"/>
          </a:xfrm>
          <a:prstGeom prst="roundRect">
            <a:avLst>
              <a:gd name="adj" fmla="val 50000"/>
            </a:avLst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25711" y="214884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>
                <a:solidFill>
                  <a:srgbClr val="1B3A4B"/>
                </a:solidFill>
                <a:latin typeface="Georgia"/>
              </a:rPr>
              <a:t>v1.0.0-rc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1" y="2834639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11242F"/>
                </a:solidFill>
                <a:latin typeface="Segoe UI Semibold"/>
              </a:rPr>
              <a:t>Release Candidate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1" y="3108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2"/>
                </a:solidFill>
                <a:latin typeface="Segoe UI"/>
              </a:rPr>
              <a:t>con CD a staging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9319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B08A36"/>
                </a:solidFill>
                <a:latin typeface="Segoe UI Semibold"/>
              </a:rPr>
              <a:t>CALIDAD VERIFICADA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279392"/>
            <a:ext cx="2189988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4279392"/>
            <a:ext cx="21899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Cobertura ≥60% 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03220" y="4279392"/>
            <a:ext cx="2478024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03220" y="4279392"/>
            <a:ext cx="247802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E2E en CI (Playwright)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27548" y="4279392"/>
            <a:ext cx="1709928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527548" y="4279392"/>
            <a:ext cx="17099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Lighthouse ≥80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3779" y="4279392"/>
            <a:ext cx="1517904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3779" y="4279392"/>
            <a:ext cx="1517904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OWASP Top 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7988" y="4279392"/>
            <a:ext cx="1709928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47988" y="4279392"/>
            <a:ext cx="170992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No-PII en logs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828031"/>
            <a:ext cx="2093976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4828031"/>
            <a:ext cx="209397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/health en staging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07208" y="4828031"/>
            <a:ext cx="2189988" cy="438912"/>
          </a:xfrm>
          <a:prstGeom prst="roundRect">
            <a:avLst>
              <a:gd name="adj" fmla="val 50000"/>
            </a:avLst>
          </a:prstGeom>
          <a:solidFill>
            <a:srgbClr val="EF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07208" y="4828031"/>
            <a:ext cx="2189988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B3A4B"/>
                </a:solidFill>
                <a:latin typeface="Segoe UI Semibold"/>
              </a:rPr>
              <a:t>Auditoría inmutable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394960"/>
            <a:ext cx="11064240" cy="758952"/>
          </a:xfrm>
          <a:prstGeom prst="roundRect">
            <a:avLst>
              <a:gd name="adj" fmla="val 6000"/>
            </a:avLst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8680" y="5394960"/>
            <a:ext cx="10515600" cy="7589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De la comunicación dispersa a un sistema único y trazable. </a:t>
            </a:r>
            <a:r>
              <a:rPr sz="1250" b="0" i="0">
                <a:solidFill>
                  <a:srgbClr val="D5E5EB"/>
                </a:solidFill>
                <a:latin typeface="Segoe UI"/>
              </a:rPr>
              <a:t>Zity integra mantenimiento, finanzas y tienda con tiempo real, seguridad por rol y un dashboard ejecutivo que consolida todo el producto.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210312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402336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1242F"/>
                </a:solidFill>
                <a:latin typeface="Georgia"/>
              </a:rPr>
              <a:t>Demo en vivo y trabajo futuro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53312"/>
            <a:ext cx="914400" cy="41148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B3A4B"/>
                </a:solidFill>
                <a:latin typeface="Segoe UI Semibold"/>
              </a:rPr>
              <a:t>Zity</a:t>
            </a:r>
            <a:r>
              <a:rPr sz="900" b="0" i="0">
                <a:solidFill>
                  <a:srgbClr val="5E6B72"/>
                </a:solidFill>
                <a:latin typeface="Segoe UI"/>
              </a:rPr>
              <a:t>   ·   Cierre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5E6B72"/>
                </a:solidFill>
                <a:latin typeface="Segoe UI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9ECD0"/>
          </a:solidFill>
          <a:ln w="12700">
            <a:solidFill>
              <a:srgbClr val="E4B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B08A36"/>
                </a:solidFill>
                <a:latin typeface="Segoe UI Semibold"/>
              </a:rPr>
              <a:t>▶  DEMOSTRACIÓN EN VIVO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42032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Login por rol y panel de cada usuario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Crear solicitud y notificación Realtime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Facturación, tienda y tablón de anuncios</a:t>
            </a:r>
          </a:p>
          <a:p>
            <a:pPr algn="l">
              <a:lnSpc>
                <a:spcPct val="106000"/>
              </a:lnSpc>
              <a:spcAft>
                <a:spcPts val="800"/>
              </a:spcAft>
            </a:pPr>
            <a:r>
              <a:rPr sz="1000" b="0" i="0">
                <a:solidFill>
                  <a:srgbClr val="D4A043"/>
                </a:solidFill>
                <a:latin typeface="Segoe UI"/>
              </a:rPr>
              <a:t>▪  </a:t>
            </a:r>
            <a:r>
              <a:rPr sz="1200" b="0" i="0">
                <a:solidFill>
                  <a:srgbClr val="1A1A2E"/>
                </a:solidFill>
                <a:latin typeface="Segoe UI"/>
              </a:rPr>
              <a:t>Dashboard ejecutivo como gran cierre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B08A36"/>
                </a:solidFill>
                <a:latin typeface="Segoe UI Semibold"/>
              </a:rPr>
              <a:t>TRABAJO FUTURO (post-curso)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240280"/>
            <a:ext cx="5349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2359152"/>
            <a:ext cx="64008" cy="603504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368296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62F3D"/>
                </a:solidFill>
                <a:latin typeface="Segoe UI Semibold"/>
              </a:rPr>
              <a:t>Twilio Verify (2FA)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97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segundo factor de autenticación.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191256"/>
            <a:ext cx="5349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3310128"/>
            <a:ext cx="64008" cy="603504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31927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62F3D"/>
                </a:solidFill>
                <a:latin typeface="Segoe UI Semibold"/>
              </a:rPr>
              <a:t>Web Push + presencia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4845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avisos nativos y estado en línea.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4142232"/>
            <a:ext cx="5349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4261104"/>
            <a:ext cx="64008" cy="603504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2702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62F3D"/>
                </a:solidFill>
                <a:latin typeface="Segoe UI Semibold"/>
              </a:rPr>
              <a:t>Resumen diario por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9943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digest automático para el residente.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5093208"/>
            <a:ext cx="534924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BE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5212080"/>
            <a:ext cx="64008" cy="603504"/>
          </a:xfrm>
          <a:prstGeom prst="rect">
            <a:avLst/>
          </a:prstGeom>
          <a:solidFill>
            <a:srgbClr val="3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522122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62F3D"/>
                </a:solidFill>
                <a:latin typeface="Segoe UI Semibold"/>
              </a:rPr>
              <a:t>Cobertura E2E publicada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5504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E6B72"/>
                </a:solidFill>
                <a:latin typeface="Segoe UI"/>
              </a:rPr>
              <a:t>reporte de calidad visible.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343400"/>
            <a:ext cx="5486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5E6B72"/>
                </a:solidFill>
                <a:latin typeface="Segoe UI"/>
              </a:rPr>
              <a:t>El dashboard ejecutivo (rol observador) es el punto ideal para cerrar la demo: muestra, en una sola pantalla, que todos los módulos se integran y producen valor para el dueño del edificio.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435840" cy="7086600"/>
          </a:xfrm>
          <a:prstGeom prst="rect">
            <a:avLst/>
          </a:prstGeom>
          <a:solidFill>
            <a:srgbClr val="16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zity_logo_sin_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51560"/>
            <a:ext cx="1120525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E4B54A"/>
                </a:solidFill>
                <a:latin typeface="Segoe UI Semibold"/>
              </a:rPr>
              <a:t>Zity  ·  Sistema de Gestión Integral para Conjuntos Residenciales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2704" y="4069080"/>
            <a:ext cx="914400" cy="45720"/>
          </a:xfrm>
          <a:prstGeom prst="rect">
            <a:avLst/>
          </a:prstGeom>
          <a:solidFill>
            <a:srgbClr val="D4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43434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D5E5EB"/>
                </a:solidFill>
                <a:latin typeface="Segoe UI"/>
              </a:rPr>
              <a:t>¿Preguntas?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208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D5E5EB"/>
                </a:solidFill>
                <a:latin typeface="Segoe UI"/>
              </a:rPr>
              <a:t>PO Jaqueline Álvarez  ·  SM Carlos Meza  ·  Devs Leonardo Cortez, Yoel Gonza, Steven Santiago</a:t>
            </a:r>
          </a:p>
          <a:p>
            <a:pPr algn="ctr"/>
            <a:r>
              <a:rPr sz="1100" b="0" i="0">
                <a:solidFill>
                  <a:srgbClr val="81B1C3"/>
                </a:solidFill>
                <a:latin typeface="Segoe UI"/>
              </a:rPr>
              <a:t>Ingeniería de Software  ·  Metodología Scrum  ·  Release v1.0.0-rc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4260</Words>
  <Application>Microsoft Office PowerPoint</Application>
  <PresentationFormat>Panorámica</PresentationFormat>
  <Paragraphs>536</Paragraphs>
  <Slides>33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9" baseType="lpstr">
      <vt:lpstr>Arial</vt:lpstr>
      <vt:lpstr>Calibri</vt:lpstr>
      <vt:lpstr>Georgia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Steven San</cp:lastModifiedBy>
  <cp:revision>2</cp:revision>
  <dcterms:created xsi:type="dcterms:W3CDTF">2013-01-27T09:14:16Z</dcterms:created>
  <dcterms:modified xsi:type="dcterms:W3CDTF">2026-06-23T19:58:34Z</dcterms:modified>
  <cp:category/>
</cp:coreProperties>
</file>